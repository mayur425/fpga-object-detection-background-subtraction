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7"/>
    <a:srgbClr val="57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2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80269D-AC7E-5577-D842-34B354047A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DB34A-B87D-4463-1A67-AE5D33B7E4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C5CA78-EF2E-4294-BA7F-1C902DFF2FE6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537EBB-EA66-970F-3E4D-27830D112E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D9F1B3-D0C9-1179-F670-EC50E8993C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A70EEE-E483-4987-A121-178343DB8C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7111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1089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4631" y="123825"/>
            <a:ext cx="9144000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Table Of Contents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B8F6C54-6069-FBEA-7430-33ECC2672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208" y="4828433"/>
            <a:ext cx="2095792" cy="26673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90EC019-61D4-B9F9-0523-751C1465DA9D}"/>
              </a:ext>
            </a:extLst>
          </p:cNvPr>
          <p:cNvSpPr txBox="1"/>
          <p:nvPr/>
        </p:nvSpPr>
        <p:spPr>
          <a:xfrm>
            <a:off x="8792307" y="4887742"/>
            <a:ext cx="2364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CB0B59-5360-9363-E5BD-030955A4D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918933"/>
              </p:ext>
            </p:extLst>
          </p:nvPr>
        </p:nvGraphicFramePr>
        <p:xfrm>
          <a:off x="1408088" y="749084"/>
          <a:ext cx="6608886" cy="413619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657958">
                  <a:extLst>
                    <a:ext uri="{9D8B030D-6E8A-4147-A177-3AD203B41FA5}">
                      <a16:colId xmlns:a16="http://schemas.microsoft.com/office/drawing/2014/main" val="862535637"/>
                    </a:ext>
                  </a:extLst>
                </a:gridCol>
                <a:gridCol w="3747966">
                  <a:extLst>
                    <a:ext uri="{9D8B030D-6E8A-4147-A177-3AD203B41FA5}">
                      <a16:colId xmlns:a16="http://schemas.microsoft.com/office/drawing/2014/main" val="1093129618"/>
                    </a:ext>
                  </a:extLst>
                </a:gridCol>
                <a:gridCol w="2202962">
                  <a:extLst>
                    <a:ext uri="{9D8B030D-6E8A-4147-A177-3AD203B41FA5}">
                      <a16:colId xmlns:a16="http://schemas.microsoft.com/office/drawing/2014/main" val="3701932166"/>
                    </a:ext>
                  </a:extLst>
                </a:gridCol>
              </a:tblGrid>
              <a:tr h="376018">
                <a:tc>
                  <a:txBody>
                    <a:bodyPr/>
                    <a:lstStyle/>
                    <a:p>
                      <a:r>
                        <a:rPr lang="en-US" sz="1400" dirty="0"/>
                        <a:t>Sl.no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Page number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234883"/>
                  </a:ext>
                </a:extLst>
              </a:tr>
              <a:tr h="376018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Introduction &amp; Motivation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276796"/>
                  </a:ext>
                </a:extLst>
              </a:tr>
              <a:tr h="376018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Problem Statement &amp; Objectives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757665"/>
                  </a:ext>
                </a:extLst>
              </a:tr>
              <a:tr h="376018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System Architecture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669790"/>
                  </a:ext>
                </a:extLst>
              </a:tr>
              <a:tr h="376018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Hardware Design — Verilog RTL Modules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510592"/>
                  </a:ext>
                </a:extLst>
              </a:tr>
              <a:tr h="376018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MATLAB/Simulink Co-Simulation &amp; Scripts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596460"/>
                  </a:ext>
                </a:extLst>
              </a:tr>
              <a:tr h="376018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System Flowchart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703577"/>
                  </a:ext>
                </a:extLst>
              </a:tr>
              <a:tr h="376018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Results &amp; Output Analysis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985239"/>
                  </a:ext>
                </a:extLst>
              </a:tr>
              <a:tr h="376018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Parameters, Limitations &amp; Future Scope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244236"/>
                  </a:ext>
                </a:extLst>
              </a:tr>
              <a:tr h="376018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Conclusion</a:t>
                      </a:r>
                      <a:endParaRPr lang="en-US" sz="1400" dirty="0">
                        <a:latin typeface="Times New Roman" panose="02020603050405020304" pitchFamily="18" charset="0"/>
                        <a:ea typeface="Noto Serif Medium" pitchFamily="34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130178"/>
                  </a:ext>
                </a:extLst>
              </a:tr>
              <a:tr h="376018">
                <a:tc>
                  <a:txBody>
                    <a:bodyPr/>
                    <a:lstStyle/>
                    <a:p>
                      <a:r>
                        <a:rPr lang="en-US" sz="1400" dirty="0"/>
                        <a:t>10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References</a:t>
                      </a:r>
                      <a:endParaRPr lang="en-US" sz="1400" dirty="0">
                        <a:latin typeface="Times New Roman" panose="02020603050405020304" pitchFamily="18" charset="0"/>
                        <a:ea typeface="Noto Serif Medium" pitchFamily="34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7976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6415"/>
            <a:ext cx="914400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Introduction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12764" y="607712"/>
            <a:ext cx="4103191" cy="1964038"/>
          </a:xfrm>
          <a:prstGeom prst="roundRect">
            <a:avLst>
              <a:gd name="adj" fmla="val 5067"/>
            </a:avLst>
          </a:prstGeom>
          <a:solidFill>
            <a:srgbClr val="9C92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30796" y="803796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0407" y="1006510"/>
            <a:ext cx="3855244" cy="1277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Real-time video analytics is critical for surveillance, traffic monitoring, and security systems.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Software-only pipelines lack the throughput required for embedded real-time operation.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Hardware acceleration via RTL delivers deterministic, low-latency, parallel pixel processing.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28046" y="76237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Motivation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28046" y="997645"/>
            <a:ext cx="3924598" cy="638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Growing demand for low-cost embedded surveillance kernels.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This project mirrors real-world SoC hardware-software co-design workflows.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 flipV="1">
            <a:off x="312764" y="2842290"/>
            <a:ext cx="8432269" cy="45719"/>
          </a:xfrm>
          <a:prstGeom prst="rect">
            <a:avLst/>
          </a:prstGeom>
          <a:solidFill>
            <a:srgbClr val="4C4C4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6119" y="299568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Problem Statement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9136" y="3451434"/>
            <a:ext cx="7965728" cy="52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Design a synthesizable Verilog RTL pipeline for motion detection and multi-object tracking, co-simulated in MATLAB Simulink and validated on real-world traffic video.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6119" y="3385972"/>
            <a:ext cx="14288" cy="675977"/>
          </a:xfrm>
          <a:prstGeom prst="rect">
            <a:avLst/>
          </a:prstGeom>
          <a:solidFill>
            <a:srgbClr val="9C928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B1BD250-34D5-ADA6-2FFD-7A24C69CE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208" y="4808711"/>
            <a:ext cx="2095792" cy="2667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6DCAC9D-59A7-E6F7-FC60-27145233B786}"/>
              </a:ext>
            </a:extLst>
          </p:cNvPr>
          <p:cNvSpPr txBox="1"/>
          <p:nvPr/>
        </p:nvSpPr>
        <p:spPr>
          <a:xfrm>
            <a:off x="8792307" y="4887742"/>
            <a:ext cx="2364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6817"/>
            <a:ext cx="914400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Objectives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75847" y="846676"/>
            <a:ext cx="8929236" cy="484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Five core objectives define the scope and deliverables of this project</a:t>
            </a: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783779"/>
            <a:ext cx="2634555" cy="1311994"/>
          </a:xfrm>
          <a:prstGeom prst="roundRect">
            <a:avLst>
              <a:gd name="adj" fmla="val 5227"/>
            </a:avLst>
          </a:prstGeom>
          <a:solidFill>
            <a:srgbClr val="FDFBF7"/>
          </a:solidFill>
          <a:ln w="14288">
            <a:solidFill>
              <a:srgbClr val="C9A84C"/>
            </a:solidFill>
            <a:prstDash val="solid"/>
          </a:ln>
          <a:effectLst>
            <a:outerShdw dist="15240" dir="2700000" algn="bl" rotWithShape="0">
              <a:srgbClr val="C9A84C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96119" y="1769492"/>
            <a:ext cx="2634555" cy="57150"/>
          </a:xfrm>
          <a:prstGeom prst="roundRect">
            <a:avLst>
              <a:gd name="adj" fmla="val 91163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627361" y="1597744"/>
            <a:ext cx="372070" cy="372070"/>
          </a:xfrm>
          <a:prstGeom prst="roundRect">
            <a:avLst>
              <a:gd name="adj" fmla="val 153600"/>
            </a:avLst>
          </a:prstGeom>
          <a:solidFill>
            <a:srgbClr val="C9A84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738982" y="1690762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1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4380" y="205408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RTL Pipeline Design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4380" y="2362126"/>
            <a:ext cx="2358033" cy="683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33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Design modular, synthesizable Verilog hardware modules for pixel-level processing.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54648" y="1783779"/>
            <a:ext cx="2634630" cy="1311994"/>
          </a:xfrm>
          <a:prstGeom prst="roundRect">
            <a:avLst>
              <a:gd name="adj" fmla="val 5227"/>
            </a:avLst>
          </a:prstGeom>
          <a:solidFill>
            <a:srgbClr val="FDFBF7"/>
          </a:solidFill>
          <a:ln w="14288">
            <a:solidFill>
              <a:srgbClr val="C9A84C"/>
            </a:solidFill>
            <a:prstDash val="solid"/>
          </a:ln>
          <a:effectLst>
            <a:outerShdw dist="15240" dir="2700000" algn="bl" rotWithShape="0">
              <a:srgbClr val="C9A84C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54648" y="1769492"/>
            <a:ext cx="2634630" cy="57150"/>
          </a:xfrm>
          <a:prstGeom prst="roundRect">
            <a:avLst>
              <a:gd name="adj" fmla="val 91163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85890" y="1597744"/>
            <a:ext cx="372070" cy="372070"/>
          </a:xfrm>
          <a:prstGeom prst="roundRect">
            <a:avLst>
              <a:gd name="adj" fmla="val 153600"/>
            </a:avLst>
          </a:prstGeom>
          <a:solidFill>
            <a:srgbClr val="C9A84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497512" y="1690762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2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92909" y="205671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Co-Simulation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92909" y="2362126"/>
            <a:ext cx="235810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Implement MATLAB Simulink environment instantiating the RTL pipeline.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13252" y="1783779"/>
            <a:ext cx="2634555" cy="1311994"/>
          </a:xfrm>
          <a:prstGeom prst="roundRect">
            <a:avLst>
              <a:gd name="adj" fmla="val 5227"/>
            </a:avLst>
          </a:prstGeom>
          <a:solidFill>
            <a:srgbClr val="FDFBF7"/>
          </a:solidFill>
          <a:ln w="14288">
            <a:solidFill>
              <a:srgbClr val="C9A84C"/>
            </a:solidFill>
            <a:prstDash val="solid"/>
          </a:ln>
          <a:effectLst>
            <a:outerShdw dist="15240" dir="2700000" algn="bl" rotWithShape="0">
              <a:srgbClr val="C9A84C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13252" y="1769492"/>
            <a:ext cx="2634555" cy="57150"/>
          </a:xfrm>
          <a:prstGeom prst="roundRect">
            <a:avLst>
              <a:gd name="adj" fmla="val 91163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144494" y="1597744"/>
            <a:ext cx="372070" cy="372070"/>
          </a:xfrm>
          <a:prstGeom prst="roundRect">
            <a:avLst>
              <a:gd name="adj" fmla="val 153600"/>
            </a:avLst>
          </a:prstGeom>
          <a:solidFill>
            <a:srgbClr val="C9A84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256115" y="1690762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3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51513" y="209386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Automation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51513" y="2362126"/>
            <a:ext cx="235803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Automate video-to-pixel-stream conversion and annotated output video reconstruction.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96119" y="3405783"/>
            <a:ext cx="4013820" cy="1113532"/>
          </a:xfrm>
          <a:prstGeom prst="roundRect">
            <a:avLst>
              <a:gd name="adj" fmla="val 6159"/>
            </a:avLst>
          </a:prstGeom>
          <a:solidFill>
            <a:srgbClr val="FDFBF7"/>
          </a:solidFill>
          <a:ln w="14288">
            <a:solidFill>
              <a:srgbClr val="C9A84C"/>
            </a:solidFill>
            <a:prstDash val="solid"/>
          </a:ln>
          <a:effectLst>
            <a:outerShdw dist="15240" dir="2700000" algn="bl" rotWithShape="0">
              <a:srgbClr val="C9A84C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96119" y="3391495"/>
            <a:ext cx="4013820" cy="57150"/>
          </a:xfrm>
          <a:prstGeom prst="roundRect">
            <a:avLst>
              <a:gd name="adj" fmla="val 91163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316956" y="3219748"/>
            <a:ext cx="372070" cy="372070"/>
          </a:xfrm>
          <a:prstGeom prst="roundRect">
            <a:avLst>
              <a:gd name="adj" fmla="val 153600"/>
            </a:avLst>
          </a:prstGeom>
          <a:solidFill>
            <a:srgbClr val="C9A84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428577" y="3312765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4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4380" y="365701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Validation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4380" y="3984129"/>
            <a:ext cx="373729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Validate system on a real-world traffic surveillance video.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633913" y="3405783"/>
            <a:ext cx="4013895" cy="1113532"/>
          </a:xfrm>
          <a:prstGeom prst="roundRect">
            <a:avLst>
              <a:gd name="adj" fmla="val 6159"/>
            </a:avLst>
          </a:prstGeom>
          <a:solidFill>
            <a:srgbClr val="FDFBF7"/>
          </a:solidFill>
          <a:ln w="14288">
            <a:solidFill>
              <a:srgbClr val="C9A84C"/>
            </a:solidFill>
            <a:prstDash val="solid"/>
          </a:ln>
          <a:effectLst>
            <a:outerShdw dist="15240" dir="2700000" algn="bl" rotWithShape="0">
              <a:srgbClr val="C9A84C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33913" y="3391495"/>
            <a:ext cx="4013895" cy="57150"/>
          </a:xfrm>
          <a:prstGeom prst="roundRect">
            <a:avLst>
              <a:gd name="adj" fmla="val 91163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54825" y="3219748"/>
            <a:ext cx="372070" cy="372070"/>
          </a:xfrm>
          <a:prstGeom prst="roundRect">
            <a:avLst>
              <a:gd name="adj" fmla="val 153600"/>
            </a:avLst>
          </a:prstGeom>
          <a:solidFill>
            <a:srgbClr val="C9A84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66446" y="3312765"/>
            <a:ext cx="14882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5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772174" y="365701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Parameter Analysis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72174" y="3984129"/>
            <a:ext cx="373737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105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Analyse threshold sensitivity and its effect on detection accuracy.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7235871-BAA1-0DC7-BBC4-90703868A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372" y="4805274"/>
            <a:ext cx="2095792" cy="26673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FA536F8-3743-801A-C82E-71A3105B7F33}"/>
              </a:ext>
            </a:extLst>
          </p:cNvPr>
          <p:cNvSpPr txBox="1"/>
          <p:nvPr/>
        </p:nvSpPr>
        <p:spPr>
          <a:xfrm>
            <a:off x="8792307" y="4887742"/>
            <a:ext cx="2364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771"/>
            <a:ext cx="914399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System Architecture Overview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4735" y="854624"/>
            <a:ext cx="910883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The end-to-end pipeline integrates MATLAB pre/post-processing with a Simulink-hosted Verilog RTL core. Data is exchanged via text intermediaries at each stage boundary.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79482"/>
            <a:ext cx="9108829" cy="8457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735" y="3288323"/>
            <a:ext cx="8792307" cy="580292"/>
          </a:xfrm>
          <a:prstGeom prst="roundRect">
            <a:avLst>
              <a:gd name="adj" fmla="val 9886"/>
            </a:avLst>
          </a:prstGeom>
          <a:solidFill>
            <a:srgbClr val="DDDA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" y="3490017"/>
            <a:ext cx="221181" cy="1769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9071" y="3406229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Data exchanged via text intermediaries: </a:t>
            </a:r>
            <a:r>
              <a:rPr lang="en-US" sz="1400" dirty="0">
                <a:highlight>
                  <a:srgbClr val="F0EEEA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input_video.txt</a:t>
            </a:r>
            <a:r>
              <a:rPr lang="en-US" sz="14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| </a:t>
            </a:r>
            <a:r>
              <a:rPr lang="en-US" sz="1400" dirty="0">
                <a:highlight>
                  <a:srgbClr val="F0EEEA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output_edges.txt</a:t>
            </a:r>
            <a:r>
              <a:rPr lang="en-US" sz="14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| </a:t>
            </a:r>
            <a:r>
              <a:rPr lang="en-US" sz="1400" dirty="0">
                <a:highlight>
                  <a:srgbClr val="F0EEEA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box_coordinates.txt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A54F2E-7277-6B62-1D79-D25A86F61D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208" y="4859896"/>
            <a:ext cx="2095792" cy="2667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FDFE58-C25A-3461-A87E-F2C436CF9D5D}"/>
              </a:ext>
            </a:extLst>
          </p:cNvPr>
          <p:cNvSpPr txBox="1"/>
          <p:nvPr/>
        </p:nvSpPr>
        <p:spPr>
          <a:xfrm>
            <a:off x="8792307" y="4887742"/>
            <a:ext cx="2364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" y="36017"/>
            <a:ext cx="9144000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Hardware Pipeline — RTL Modules &amp; Formulations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349" y="930473"/>
            <a:ext cx="4061966" cy="1107653"/>
          </a:xfrm>
          <a:prstGeom prst="roundRect">
            <a:avLst>
              <a:gd name="adj" fmla="val 4336"/>
            </a:avLst>
          </a:prstGeom>
          <a:solidFill>
            <a:srgbClr val="C9A84C">
              <a:alpha val="50000"/>
            </a:srgbClr>
          </a:solidFill>
          <a:ln w="4763">
            <a:solidFill>
              <a:srgbClr val="AF8E32"/>
            </a:solidFill>
            <a:prstDash val="solid"/>
          </a:ln>
          <a:effectLst>
            <a:outerShdw dist="13970" dir="2700000" algn="bl" rotWithShape="0">
              <a:srgbClr val="AF8E3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76411" y="1049536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background_</a:t>
            </a:r>
            <a:r>
              <a:rPr lang="en-US" sz="1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sub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76411" y="1291456"/>
            <a:ext cx="382384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Absolute pixel difference vs background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76411" y="1530548"/>
            <a:ext cx="3823841" cy="38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8-bit configurable threshold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Outputs 1-bit motion flag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24685" y="930473"/>
            <a:ext cx="4061966" cy="1107653"/>
          </a:xfrm>
          <a:prstGeom prst="roundRect">
            <a:avLst>
              <a:gd name="adj" fmla="val 4336"/>
            </a:avLst>
          </a:prstGeom>
          <a:solidFill>
            <a:srgbClr val="C9A84C">
              <a:alpha val="50000"/>
            </a:srgbClr>
          </a:solidFill>
          <a:ln w="4763">
            <a:solidFill>
              <a:srgbClr val="AF8E32"/>
            </a:solidFill>
            <a:prstDash val="solid"/>
          </a:ln>
          <a:effectLst>
            <a:outerShdw dist="13970" dir="2700000" algn="bl" rotWithShape="0">
              <a:srgbClr val="AF8E3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43748" y="1049536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line_buffer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43748" y="1291456"/>
            <a:ext cx="382384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Dual shift register, 3-row tap access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43748" y="1530548"/>
            <a:ext cx="3823841" cy="38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Width: 160 pixels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Enables streaming 3×3 neighbourhood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349" y="2143497"/>
            <a:ext cx="4061966" cy="1107653"/>
          </a:xfrm>
          <a:prstGeom prst="roundRect">
            <a:avLst>
              <a:gd name="adj" fmla="val 4336"/>
            </a:avLst>
          </a:prstGeom>
          <a:solidFill>
            <a:srgbClr val="C9A84C">
              <a:alpha val="50000"/>
            </a:srgbClr>
          </a:solidFill>
          <a:ln w="4763">
            <a:solidFill>
              <a:srgbClr val="AF8E32"/>
            </a:solidFill>
            <a:prstDash val="solid"/>
          </a:ln>
          <a:effectLst>
            <a:outerShdw dist="13970" dir="2700000" algn="bl" rotWithShape="0">
              <a:srgbClr val="AF8E3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76411" y="2262560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sobel_</a:t>
            </a:r>
            <a:r>
              <a:rPr lang="en-US" sz="1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calc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6411" y="2504480"/>
            <a:ext cx="382384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3×3 Sobel gradient edge detector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76411" y="2743572"/>
            <a:ext cx="3823841" cy="38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Manhattan approx: |Gx| + |Gy|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3-stage registered pipeline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24685" y="2143497"/>
            <a:ext cx="4061966" cy="1107653"/>
          </a:xfrm>
          <a:prstGeom prst="roundRect">
            <a:avLst>
              <a:gd name="adj" fmla="val 4336"/>
            </a:avLst>
          </a:prstGeom>
          <a:solidFill>
            <a:srgbClr val="C9A84C">
              <a:alpha val="50000"/>
            </a:srgbClr>
          </a:solidFill>
          <a:ln w="4763">
            <a:solidFill>
              <a:srgbClr val="AF8E32"/>
            </a:solidFill>
            <a:prstDash val="solid"/>
          </a:ln>
          <a:effectLst>
            <a:outerShdw dist="13970" dir="2700000" algn="bl" rotWithShape="0">
              <a:srgbClr val="AF8E3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43748" y="2262560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tracker</a:t>
            </a:r>
            <a:r>
              <a:rPr lang="en-US" sz="14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_box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43748" y="2504480"/>
            <a:ext cx="3823841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Per-frame bounding box tracker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43748" y="2743572"/>
            <a:ext cx="3823841" cy="388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323-cycle pipeline delay compensation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Auto-reset at frame end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349" y="3398267"/>
            <a:ext cx="8229302" cy="8558"/>
          </a:xfrm>
          <a:prstGeom prst="rect">
            <a:avLst/>
          </a:prstGeom>
          <a:solidFill>
            <a:srgbClr val="4C4C4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349" y="3593529"/>
            <a:ext cx="2676823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Key Mathematical Formulations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349" y="3930328"/>
            <a:ext cx="2687092" cy="1107652"/>
          </a:xfrm>
          <a:prstGeom prst="roundRect">
            <a:avLst>
              <a:gd name="adj" fmla="val 8061"/>
            </a:avLst>
          </a:prstGeom>
          <a:solidFill>
            <a:srgbClr val="FDFBF7"/>
          </a:solidFill>
          <a:ln w="14288">
            <a:solidFill>
              <a:srgbClr val="C9A84C"/>
            </a:solidFill>
            <a:prstDash val="solid"/>
          </a:ln>
          <a:effectLst>
            <a:outerShdw dist="13970" dir="2700000" algn="bl" rotWithShape="0">
              <a:srgbClr val="C9A84C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43061" y="3930328"/>
            <a:ext cx="45719" cy="1107652"/>
          </a:xfrm>
          <a:prstGeom prst="roundRect">
            <a:avLst>
              <a:gd name="adj" fmla="val 84041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8799" y="4058915"/>
            <a:ext cx="1429420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Motion Detection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C23071E-BB36-6810-7340-617DB0704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385" y="4866074"/>
            <a:ext cx="1763615" cy="224460"/>
          </a:xfrm>
          <a:prstGeom prst="rect">
            <a:avLst/>
          </a:prstGeom>
        </p:spPr>
      </p:pic>
      <p:sp>
        <p:nvSpPr>
          <p:cNvPr id="24" name="Text 22"/>
          <p:cNvSpPr/>
          <p:nvPr/>
        </p:nvSpPr>
        <p:spPr>
          <a:xfrm>
            <a:off x="628799" y="4300835"/>
            <a:ext cx="2372767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highlight>
                  <a:srgbClr val="F0EEEA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is_motion = 1</a:t>
            </a: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if </a:t>
            </a:r>
            <a:r>
              <a:rPr lang="en-US" sz="1200" dirty="0">
                <a:highlight>
                  <a:srgbClr val="F0EEEA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|P_curr – P_bg| &gt; T_sub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235523" y="3930328"/>
            <a:ext cx="2687167" cy="1107652"/>
          </a:xfrm>
          <a:prstGeom prst="roundRect">
            <a:avLst>
              <a:gd name="adj" fmla="val 8061"/>
            </a:avLst>
          </a:prstGeom>
          <a:solidFill>
            <a:srgbClr val="FDFBF7"/>
          </a:solidFill>
          <a:ln w="14288">
            <a:solidFill>
              <a:srgbClr val="C9A84C"/>
            </a:solidFill>
            <a:prstDash val="solid"/>
          </a:ln>
          <a:effectLst>
            <a:outerShdw dist="13970" dir="2700000" algn="bl" rotWithShape="0">
              <a:srgbClr val="C9A84C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21236" y="3930328"/>
            <a:ext cx="51792" cy="1099092"/>
          </a:xfrm>
          <a:prstGeom prst="roundRect">
            <a:avLst>
              <a:gd name="adj" fmla="val 84041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06973" y="4058915"/>
            <a:ext cx="1530921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Sobel Edge Magnitude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406973" y="4300835"/>
            <a:ext cx="2372841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highlight>
                  <a:srgbClr val="F0EEEA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|G| = |Gx| + |Gy|</a:t>
            </a: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where Gx and Gy are Sobel gradients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04497" y="3938193"/>
            <a:ext cx="2687167" cy="1107653"/>
          </a:xfrm>
          <a:prstGeom prst="roundRect">
            <a:avLst>
              <a:gd name="adj" fmla="val 8061"/>
            </a:avLst>
          </a:prstGeom>
          <a:solidFill>
            <a:srgbClr val="FDFBF7"/>
          </a:solidFill>
          <a:ln w="14288">
            <a:solidFill>
              <a:srgbClr val="C9A84C"/>
            </a:solidFill>
            <a:prstDash val="solid"/>
          </a:ln>
          <a:effectLst>
            <a:outerShdw dist="13970" dir="2700000" algn="bl" rotWithShape="0">
              <a:srgbClr val="C9A84C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999485" y="3930327"/>
            <a:ext cx="57150" cy="1093961"/>
          </a:xfrm>
          <a:prstGeom prst="roundRect">
            <a:avLst>
              <a:gd name="adj" fmla="val 84041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185222" y="4058915"/>
            <a:ext cx="1841376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Bounding Box Coordinates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185222" y="4300835"/>
            <a:ext cx="2372767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highlight>
                  <a:srgbClr val="F0EEEA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box_min_x = min(box_min_x, x_c)</a:t>
            </a: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and similarly for max and Y coordinates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A065E2-56CF-B8AD-7ED3-7DFC82E99AD1}"/>
              </a:ext>
            </a:extLst>
          </p:cNvPr>
          <p:cNvSpPr txBox="1"/>
          <p:nvPr/>
        </p:nvSpPr>
        <p:spPr>
          <a:xfrm>
            <a:off x="8792307" y="4887742"/>
            <a:ext cx="2364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7921"/>
            <a:ext cx="914400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Co-Simulation &amp; MATLAB Scripts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06822" y="1570583"/>
            <a:ext cx="4103191" cy="2575843"/>
          </a:xfrm>
          <a:prstGeom prst="roundRect">
            <a:avLst>
              <a:gd name="adj" fmla="val 3467"/>
            </a:avLst>
          </a:prstGeom>
          <a:solidFill>
            <a:srgbClr val="9C92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30796" y="1694557"/>
            <a:ext cx="264437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Simulink Co-Simulation Flow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796" y="2012379"/>
            <a:ext cx="3855244" cy="1674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950" b="1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InitFcn:</a:t>
            </a:r>
            <a:r>
              <a:rPr lang="en-US" sz="95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Reads </a:t>
            </a:r>
            <a:r>
              <a:rPr lang="en-US" sz="950" dirty="0">
                <a:highlight>
                  <a:srgbClr val="8F8576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input_video.txt</a:t>
            </a:r>
            <a:r>
              <a:rPr lang="en-US" sz="95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, converts hex to pixel stream, assigns to workspace variable, sets simulation </a:t>
            </a:r>
            <a:r>
              <a:rPr lang="en-US" sz="950" dirty="0">
                <a:highlight>
                  <a:srgbClr val="8F8576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StopTime</a:t>
            </a:r>
            <a:r>
              <a:rPr lang="en-US" sz="95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dynamically.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950" b="1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Simulation Run:</a:t>
            </a:r>
            <a:r>
              <a:rPr lang="en-US" sz="95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Pixel stream drives RTL pipeline at 1 pixel per timestep. Edge pixels and bounding box signals captured in output object.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950" b="1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StopFcn:</a:t>
            </a:r>
            <a:r>
              <a:rPr lang="en-US" sz="95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Exports </a:t>
            </a:r>
            <a:r>
              <a:rPr lang="en-US" sz="950" dirty="0">
                <a:highlight>
                  <a:srgbClr val="8F8576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output_edges.txt</a:t>
            </a:r>
            <a:r>
              <a:rPr lang="en-US" sz="95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in hex format and </a:t>
            </a:r>
            <a:r>
              <a:rPr lang="en-US" sz="950" dirty="0">
                <a:highlight>
                  <a:srgbClr val="8F8576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box_coordinates.txt</a:t>
            </a:r>
            <a:r>
              <a:rPr lang="en-US" sz="95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as decimal coordinate pairs.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28046" y="1645956"/>
            <a:ext cx="26010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MATLAB Automation Scripts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25846" y="1892119"/>
            <a:ext cx="1900313" cy="2392718"/>
          </a:xfrm>
          <a:prstGeom prst="roundRect">
            <a:avLst>
              <a:gd name="adj" fmla="val 3609"/>
            </a:avLst>
          </a:prstGeom>
          <a:solidFill>
            <a:srgbClr val="FDFBF7"/>
          </a:solidFill>
          <a:ln w="14288">
            <a:solidFill>
              <a:srgbClr val="C9A84C"/>
            </a:solidFill>
            <a:prstDash val="solid"/>
          </a:ln>
          <a:effectLst>
            <a:outerShdw dist="15240" dir="2700000" algn="bl" rotWithShape="0">
              <a:srgbClr val="C9A84C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713759" y="1888480"/>
            <a:ext cx="71436" cy="2392718"/>
          </a:xfrm>
          <a:prstGeom prst="roundRect">
            <a:avLst>
              <a:gd name="adj" fmla="val 91163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41425" y="1964400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video_to_text.m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60190" y="2157618"/>
            <a:ext cx="1580927" cy="130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Read MP4 → Resize to 160×120 → Grayscale → Write as hex pixel stream to </a:t>
            </a:r>
            <a:r>
              <a:rPr lang="en-US" sz="1200" dirty="0">
                <a:highlight>
                  <a:srgbClr val="F0EEEA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input_video.txt</a:t>
            </a: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. (19,200 samples/frame)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752332" y="1892119"/>
            <a:ext cx="1900312" cy="2392719"/>
          </a:xfrm>
          <a:prstGeom prst="roundRect">
            <a:avLst>
              <a:gd name="adj" fmla="val 3609"/>
            </a:avLst>
          </a:prstGeom>
          <a:solidFill>
            <a:srgbClr val="FDFBF7"/>
          </a:solidFill>
          <a:ln w="14288">
            <a:solidFill>
              <a:srgbClr val="C9A84C"/>
            </a:solidFill>
            <a:prstDash val="solid"/>
          </a:ln>
          <a:effectLst>
            <a:outerShdw dist="15240" dir="2700000" algn="bl" rotWithShape="0">
              <a:srgbClr val="C9A84C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738044" y="1892119"/>
            <a:ext cx="71437" cy="2392718"/>
          </a:xfrm>
          <a:prstGeom prst="roundRect">
            <a:avLst>
              <a:gd name="adj" fmla="val 91163"/>
            </a:avLst>
          </a:prstGeom>
          <a:solidFill>
            <a:srgbClr val="C9A8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929289" y="1963770"/>
            <a:ext cx="158092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multi_object_video.m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912025" y="2156480"/>
            <a:ext cx="1496230" cy="174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Load edge map → Motion gate → Morphological dilation → </a:t>
            </a:r>
            <a:r>
              <a:rPr lang="en-US" sz="1200" dirty="0">
                <a:highlight>
                  <a:srgbClr val="F0EEEA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regionprops</a:t>
            </a: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→ Scale to HD → </a:t>
            </a:r>
            <a:r>
              <a:rPr lang="en-US" sz="1200" dirty="0">
                <a:highlight>
                  <a:srgbClr val="F0EEEA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insertShape</a:t>
            </a: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+ </a:t>
            </a:r>
            <a:r>
              <a:rPr lang="en-US" sz="1200" dirty="0">
                <a:highlight>
                  <a:srgbClr val="F0EEEA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insertText</a:t>
            </a: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→ VideoWriter output.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DE88C58-A140-184A-9749-2CF822C8B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208" y="4796902"/>
            <a:ext cx="2095792" cy="266737"/>
          </a:xfrm>
          <a:prstGeom prst="rect">
            <a:avLst/>
          </a:prstGeom>
        </p:spPr>
      </p:pic>
      <p:sp>
        <p:nvSpPr>
          <p:cNvPr id="17" name="Shape 1">
            <a:extLst>
              <a:ext uri="{FF2B5EF4-FFF2-40B4-BE49-F238E27FC236}">
                <a16:creationId xmlns:a16="http://schemas.microsoft.com/office/drawing/2014/main" id="{AB31E702-2EB5-70E5-1039-EC475FA42E4B}"/>
              </a:ext>
            </a:extLst>
          </p:cNvPr>
          <p:cNvSpPr/>
          <p:nvPr/>
        </p:nvSpPr>
        <p:spPr>
          <a:xfrm>
            <a:off x="406822" y="1570657"/>
            <a:ext cx="4103191" cy="2575843"/>
          </a:xfrm>
          <a:prstGeom prst="roundRect">
            <a:avLst>
              <a:gd name="adj" fmla="val 3467"/>
            </a:avLst>
          </a:prstGeom>
          <a:solidFill>
            <a:srgbClr val="9C92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58974028-8FAE-1FC6-0D13-6A4EEE9ABA8C}"/>
              </a:ext>
            </a:extLst>
          </p:cNvPr>
          <p:cNvSpPr/>
          <p:nvPr/>
        </p:nvSpPr>
        <p:spPr>
          <a:xfrm>
            <a:off x="530796" y="1694631"/>
            <a:ext cx="264437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Simulink Co-Simulation Flow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689A175B-37D8-F0A0-5775-99BA5F819E57}"/>
              </a:ext>
            </a:extLst>
          </p:cNvPr>
          <p:cNvSpPr/>
          <p:nvPr/>
        </p:nvSpPr>
        <p:spPr>
          <a:xfrm>
            <a:off x="530796" y="2012453"/>
            <a:ext cx="3855244" cy="1674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InitFcn:</a:t>
            </a: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Reads </a:t>
            </a:r>
            <a:r>
              <a:rPr lang="en-US" sz="1200" dirty="0">
                <a:highlight>
                  <a:srgbClr val="8F8576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input_video.txt</a:t>
            </a: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, converts hex to pixel stream, assigns to workspace variable, sets simulation </a:t>
            </a:r>
            <a:r>
              <a:rPr lang="en-US" sz="1200" dirty="0">
                <a:highlight>
                  <a:srgbClr val="8F8576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StopTime</a:t>
            </a: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dynamically.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200" b="1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Simulation Run:</a:t>
            </a: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Pixel stream drives RTL pipeline at 1 pixel per timestep. Edge pixels and bounding box signals captured in output object.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200" b="1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StopFcn:</a:t>
            </a: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Exports </a:t>
            </a:r>
            <a:r>
              <a:rPr lang="en-US" sz="1200" dirty="0">
                <a:highlight>
                  <a:srgbClr val="8F8576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output_edges.txt</a:t>
            </a: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in hex format and </a:t>
            </a:r>
            <a:r>
              <a:rPr lang="en-US" sz="1200" dirty="0">
                <a:highlight>
                  <a:srgbClr val="8F8576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box_coordinates.txt</a:t>
            </a: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as decimal coordinate pairs.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454813-37EF-52E2-7443-0D51C16064F0}"/>
              </a:ext>
            </a:extLst>
          </p:cNvPr>
          <p:cNvSpPr txBox="1"/>
          <p:nvPr/>
        </p:nvSpPr>
        <p:spPr>
          <a:xfrm>
            <a:off x="8792307" y="4887742"/>
            <a:ext cx="2364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4893" y="15152"/>
            <a:ext cx="2869406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Processing Flowchart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22527" y="497477"/>
            <a:ext cx="7058815" cy="661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17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The decision diamond checks whether additional frames remain. If yes, the loop</a:t>
            </a:r>
          </a:p>
          <a:p>
            <a:pPr marL="0" indent="0" algn="just">
              <a:lnSpc>
                <a:spcPct val="117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continues; if no, processing terminates and the output video is finalized</a:t>
            </a:r>
            <a:r>
              <a:rPr lang="en-US" sz="14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8" y="-2138"/>
            <a:ext cx="1604596" cy="50599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59574" y="1164981"/>
            <a:ext cx="7247858" cy="3754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17000"/>
              </a:lnSpc>
              <a:spcAft>
                <a:spcPts val="450"/>
              </a:spcAft>
              <a:buNone/>
            </a:pPr>
            <a:r>
              <a:rPr lang="en-US" sz="1400" b="1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Processing Flow — Step by Step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7000"/>
              </a:lnSpc>
              <a:spcAft>
                <a:spcPts val="45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The system begins by reading each video frame sequentially, resizing it to 160×120 pixels and converting it to grayscale for hardware compatibility.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7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The pixel stream is written to </a:t>
            </a:r>
            <a:r>
              <a:rPr lang="en-US" sz="1400" b="1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input_video.txt</a:t>
            </a:r>
            <a:r>
              <a:rPr lang="en-US" sz="14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, which the Simulink </a:t>
            </a:r>
            <a:r>
              <a:rPr lang="en-US" sz="1400" b="1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InitFcn</a:t>
            </a:r>
            <a:r>
              <a:rPr lang="en-US" sz="14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callback loads into the workspace and uses to set the simulation stop time dynamically.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7000"/>
              </a:lnSpc>
              <a:spcAft>
                <a:spcPts val="450"/>
              </a:spcAft>
              <a:buNone/>
            </a:pPr>
            <a:r>
              <a:rPr lang="en-US" sz="14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The RTL pipeline then processes every pixel — background subtraction, line buffering, Sobel edge detection, and bounding box tracking — one pixel per clock cycle.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7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On simulation end, the </a:t>
            </a:r>
            <a:r>
              <a:rPr lang="en-US" sz="1400" b="1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StopFcn</a:t>
            </a:r>
            <a:r>
              <a:rPr lang="en-US" sz="14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callback exports the edge map to </a:t>
            </a:r>
            <a:r>
              <a:rPr lang="en-US" sz="1400" b="1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output_edges.txt</a:t>
            </a:r>
            <a:r>
              <a:rPr lang="en-US" sz="14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and bounding box coordinates to </a:t>
            </a:r>
            <a:r>
              <a:rPr lang="en-US" sz="1400" b="1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box_coordinates.txt</a:t>
            </a:r>
            <a:r>
              <a:rPr lang="en-US" sz="14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7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The post-processor loads each original HD frame alongside the hardware edge map, applies motion gating and morphological dilation, runs </a:t>
            </a:r>
            <a:r>
              <a:rPr lang="en-US" sz="1400" b="1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regionprops</a:t>
            </a:r>
            <a:r>
              <a:rPr lang="en-US" sz="14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to isolate connected regions, scales the bounding boxes to full resolution, and annotates the frame.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7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This loop repeats for every frame until the video is fully processed.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3557EB-A55F-7FBC-BE92-125139F1A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208" y="4804315"/>
            <a:ext cx="2095792" cy="2667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3A9AD0-F001-B0F8-F2AB-86E675EAFFB4}"/>
              </a:ext>
            </a:extLst>
          </p:cNvPr>
          <p:cNvSpPr txBox="1"/>
          <p:nvPr/>
        </p:nvSpPr>
        <p:spPr>
          <a:xfrm>
            <a:off x="8792307" y="4887742"/>
            <a:ext cx="2364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447C12-3B5A-E170-6E03-2EE634C73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208" y="4804315"/>
            <a:ext cx="2095792" cy="2667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59A80E-9B07-F975-AEC1-7E55C02E60BB}"/>
              </a:ext>
            </a:extLst>
          </p:cNvPr>
          <p:cNvSpPr txBox="1"/>
          <p:nvPr/>
        </p:nvSpPr>
        <p:spPr>
          <a:xfrm>
            <a:off x="0" y="183613"/>
            <a:ext cx="9144000" cy="572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table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DC65B9-CF05-158B-9C2F-E0DD18C53B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560210"/>
              </p:ext>
            </p:extLst>
          </p:nvPr>
        </p:nvGraphicFramePr>
        <p:xfrm>
          <a:off x="170219" y="1024795"/>
          <a:ext cx="8821381" cy="3316802"/>
        </p:xfrm>
        <a:graphic>
          <a:graphicData uri="http://schemas.openxmlformats.org/drawingml/2006/table">
            <a:tbl>
              <a:tblPr firstRow="1" firstCol="1" bandRow="1">
                <a:tableStyleId>{17292A2E-F333-43FB-9621-5CBBE7FDCDCB}</a:tableStyleId>
              </a:tblPr>
              <a:tblGrid>
                <a:gridCol w="3951508">
                  <a:extLst>
                    <a:ext uri="{9D8B030D-6E8A-4147-A177-3AD203B41FA5}">
                      <a16:colId xmlns:a16="http://schemas.microsoft.com/office/drawing/2014/main" val="2266564636"/>
                    </a:ext>
                  </a:extLst>
                </a:gridCol>
                <a:gridCol w="845128">
                  <a:extLst>
                    <a:ext uri="{9D8B030D-6E8A-4147-A177-3AD203B41FA5}">
                      <a16:colId xmlns:a16="http://schemas.microsoft.com/office/drawing/2014/main" val="1198635567"/>
                    </a:ext>
                  </a:extLst>
                </a:gridCol>
                <a:gridCol w="1076573">
                  <a:extLst>
                    <a:ext uri="{9D8B030D-6E8A-4147-A177-3AD203B41FA5}">
                      <a16:colId xmlns:a16="http://schemas.microsoft.com/office/drawing/2014/main" val="569689094"/>
                    </a:ext>
                  </a:extLst>
                </a:gridCol>
                <a:gridCol w="1514227">
                  <a:extLst>
                    <a:ext uri="{9D8B030D-6E8A-4147-A177-3AD203B41FA5}">
                      <a16:colId xmlns:a16="http://schemas.microsoft.com/office/drawing/2014/main" val="2255418505"/>
                    </a:ext>
                  </a:extLst>
                </a:gridCol>
                <a:gridCol w="1433945">
                  <a:extLst>
                    <a:ext uri="{9D8B030D-6E8A-4147-A177-3AD203B41FA5}">
                      <a16:colId xmlns:a16="http://schemas.microsoft.com/office/drawing/2014/main" val="9508956"/>
                    </a:ext>
                  </a:extLst>
                </a:gridCol>
              </a:tblGrid>
              <a:tr h="7277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Board used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paper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frequency achieved for our code</a:t>
                      </a:r>
                      <a:endParaRPr lang="en-IN" sz="1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frequency achieved by researcher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period achieved by researcher</a:t>
                      </a:r>
                      <a:endParaRPr lang="en-IN" sz="1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extLst>
                  <a:ext uri="{0D108BD9-81ED-4DB2-BD59-A6C34878D82A}">
                    <a16:rowId xmlns:a16="http://schemas.microsoft.com/office/drawing/2014/main" val="2485389420"/>
                  </a:ext>
                </a:extLst>
              </a:tr>
              <a:tr h="4617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Spartan 6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179.227 MHz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--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extLst>
                  <a:ext uri="{0D108BD9-81ED-4DB2-BD59-A6C34878D82A}">
                    <a16:rowId xmlns:a16="http://schemas.microsoft.com/office/drawing/2014/main" val="1470613745"/>
                  </a:ext>
                </a:extLst>
              </a:tr>
              <a:tr h="4617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Zynq 7000 (basic bg subs)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352.139 MHz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222.75 MHz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4.49 ns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extLst>
                  <a:ext uri="{0D108BD9-81ED-4DB2-BD59-A6C34878D82A}">
                    <a16:rowId xmlns:a16="http://schemas.microsoft.com/office/drawing/2014/main" val="3218366014"/>
                  </a:ext>
                </a:extLst>
              </a:tr>
              <a:tr h="22744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Xilinx Zynq-7000 ZC706 (Paper 1 – Amina et al.)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280 MHz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MHz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10.00 ns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extLst>
                  <a:ext uri="{0D108BD9-81ED-4DB2-BD59-A6C34878D82A}">
                    <a16:rowId xmlns:a16="http://schemas.microsoft.com/office/drawing/2014/main" val="634533311"/>
                  </a:ext>
                </a:extLst>
              </a:tr>
              <a:tr h="22744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Xilinx Kria KV260 (Paper 2 – Rashed et al.)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250MHz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 MHz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8.33 ns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extLst>
                  <a:ext uri="{0D108BD9-81ED-4DB2-BD59-A6C34878D82A}">
                    <a16:rowId xmlns:a16="http://schemas.microsoft.com/office/drawing/2014/main" val="4107174144"/>
                  </a:ext>
                </a:extLst>
              </a:tr>
              <a:tr h="46173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Xilinx FPGA boards (YOLOv2) (Paper 3 – Solomon et al.)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260 MHz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 MHz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5.00 ns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extLst>
                  <a:ext uri="{0D108BD9-81ED-4DB2-BD59-A6C34878D82A}">
                    <a16:rowId xmlns:a16="http://schemas.microsoft.com/office/drawing/2014/main" val="3893093510"/>
                  </a:ext>
                </a:extLst>
              </a:tr>
              <a:tr h="5148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AMD </a:t>
                      </a:r>
                      <a:r>
                        <a:rPr lang="en-IN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Virtex</a:t>
                      </a: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XC7VX485T (Paper 4 – Oshima et al.)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320 MHz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reported</a:t>
                      </a:r>
                      <a:endParaRPr lang="en-IN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reported</a:t>
                      </a:r>
                      <a:endParaRPr lang="en-IN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0622" marR="50622" marT="0" marB="0" anchor="ctr"/>
                </a:tc>
                <a:extLst>
                  <a:ext uri="{0D108BD9-81ED-4DB2-BD59-A6C34878D82A}">
                    <a16:rowId xmlns:a16="http://schemas.microsoft.com/office/drawing/2014/main" val="1360096494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AE7A47DF-E00E-2B34-6E39-A41C32B5D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8" y="133191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927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293415"/>
            <a:ext cx="5294784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Results — Detection &amp; Tracking Output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/>
          <p:cNvSpPr/>
          <p:nvPr/>
        </p:nvSpPr>
        <p:spPr>
          <a:xfrm>
            <a:off x="521643" y="3657302"/>
            <a:ext cx="8100640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i="1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Top-left: before tracking is done · Top-right Final annotated HD output frame with green bounding boxes on detected vehicles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189" y="4245247"/>
            <a:ext cx="154037" cy="154037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855464" y="4172098"/>
            <a:ext cx="3663330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Moving vehicles detected as distinct connected regions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3604" y="4240775"/>
            <a:ext cx="154037" cy="154037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954117" y="4165691"/>
            <a:ext cx="3663404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Multiple objects tracked simultaneously per frame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004" y="4541862"/>
            <a:ext cx="154037" cy="154037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855464" y="4536728"/>
            <a:ext cx="3663330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Per-frame overlay: frame index + active vehicle count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8265" y="4582253"/>
            <a:ext cx="154037" cy="154037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4958879" y="4536728"/>
            <a:ext cx="3663404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Motion gating eliminated static background false positives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D8CB2E3-5423-9599-24E8-713A492DA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208" y="4824249"/>
            <a:ext cx="2095792" cy="3192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2FA47D-DA4D-2F20-8DEF-66A020312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1504" y="651701"/>
            <a:ext cx="1643682" cy="28983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F201DE7-F92C-8228-1628-8BB626CF47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7982" y="625764"/>
            <a:ext cx="1660226" cy="29211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B89829-25EE-7D2A-AA62-1E574DB027AD}"/>
              </a:ext>
            </a:extLst>
          </p:cNvPr>
          <p:cNvSpPr txBox="1"/>
          <p:nvPr/>
        </p:nvSpPr>
        <p:spPr>
          <a:xfrm>
            <a:off x="8792307" y="4887742"/>
            <a:ext cx="2364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9321"/>
            <a:ext cx="914400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Parameters and Limitations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06822" y="1302092"/>
            <a:ext cx="4103191" cy="3104108"/>
          </a:xfrm>
          <a:prstGeom prst="roundRect">
            <a:avLst>
              <a:gd name="adj" fmla="val 2877"/>
            </a:avLst>
          </a:prstGeom>
          <a:solidFill>
            <a:srgbClr val="9C92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30796" y="143046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System Parameters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30796" y="1763837"/>
            <a:ext cx="3855244" cy="2507233"/>
          </a:xfrm>
          <a:prstGeom prst="roundRect">
            <a:avLst>
              <a:gd name="adj" fmla="val 207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35558" y="1768599"/>
            <a:ext cx="3845719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59532" y="1847776"/>
            <a:ext cx="21297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Resolution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84772" y="1847776"/>
            <a:ext cx="21297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160×120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35558" y="2125414"/>
            <a:ext cx="3845719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9532" y="2204591"/>
            <a:ext cx="21297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Pixel Depth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584772" y="2204591"/>
            <a:ext cx="21297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8-bit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35558" y="2482230"/>
            <a:ext cx="3845719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9532" y="2561406"/>
            <a:ext cx="21297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Sub</a:t>
            </a:r>
            <a:r>
              <a:rPr lang="en-US" sz="950" b="1" dirty="0">
                <a:solidFill>
                  <a:srgbClr val="000000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Threshold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84772" y="2561406"/>
            <a:ext cx="21297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~15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5558" y="2839045"/>
            <a:ext cx="3845719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9532" y="2918222"/>
            <a:ext cx="21297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Sobel Threshold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84772" y="2918222"/>
            <a:ext cx="21297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~100–200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5558" y="3195861"/>
            <a:ext cx="3845719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9532" y="3275037"/>
            <a:ext cx="21297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Pipeline Delay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584772" y="3275037"/>
            <a:ext cx="21297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323 cycles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35558" y="3552676"/>
            <a:ext cx="3845719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9532" y="3631853"/>
            <a:ext cx="21297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Min Object Area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584772" y="3631853"/>
            <a:ext cx="21297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20 px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35558" y="3909492"/>
            <a:ext cx="3845719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9532" y="3988668"/>
            <a:ext cx="21297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Output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584772" y="3988668"/>
            <a:ext cx="212973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1080p HD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14502" y="123661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Limitations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728046" y="1569426"/>
            <a:ext cx="4415954" cy="2765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Single global bounding box in hardware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Static background model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Resolution capped at 160×120 for simulation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Text-file I/O not real-time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728046" y="3114080"/>
            <a:ext cx="3924598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87EF528-36FE-2953-4515-EFC6C1A1B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208" y="4875581"/>
            <a:ext cx="2095792" cy="26673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5F8ED404-7F08-6061-FAFD-6CC2D3AE6AA6}"/>
              </a:ext>
            </a:extLst>
          </p:cNvPr>
          <p:cNvSpPr txBox="1"/>
          <p:nvPr/>
        </p:nvSpPr>
        <p:spPr>
          <a:xfrm>
            <a:off x="8792307" y="4887742"/>
            <a:ext cx="2364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2346" y="-13998"/>
            <a:ext cx="164648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Conclusion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912754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9A84C">
              <a:alpha val="50000"/>
            </a:srgbClr>
          </a:solidFill>
          <a:ln w="4763">
            <a:solidFill>
              <a:srgbClr val="AF8E32"/>
            </a:solidFill>
            <a:prstDash val="solid"/>
          </a:ln>
          <a:effectLst>
            <a:outerShdw dist="15240" dir="2700000" algn="bl" rotWithShape="0">
              <a:srgbClr val="AF8E3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99144" y="960450"/>
            <a:ext cx="158777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RTL Pipeline Verified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46389" y="1242162"/>
            <a:ext cx="3595315" cy="788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Modular Verilog RTL pipeline successfully designed and verified via co-simulation.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649465" y="917847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9A84C">
              <a:alpha val="50000"/>
            </a:srgbClr>
          </a:solidFill>
          <a:ln w="4763">
            <a:solidFill>
              <a:srgbClr val="AF8E32"/>
            </a:solidFill>
            <a:prstDash val="solid"/>
          </a:ln>
          <a:effectLst>
            <a:outerShdw dist="15240" dir="2700000" algn="bl" rotWithShape="0">
              <a:srgbClr val="AF8E32">
                <a:alpha val="10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25779" y="2531215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9A84C">
              <a:alpha val="50000"/>
            </a:srgbClr>
          </a:solidFill>
          <a:ln w="4763">
            <a:solidFill>
              <a:srgbClr val="AF8E32"/>
            </a:solidFill>
            <a:prstDash val="solid"/>
          </a:ln>
          <a:effectLst>
            <a:outerShdw dist="15240" dir="2700000" algn="bl" rotWithShape="0">
              <a:srgbClr val="AF8E3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7537" y="2619916"/>
            <a:ext cx="169098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Multi-Object Detection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49464" y="2531214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9A84C">
              <a:alpha val="50000"/>
            </a:srgbClr>
          </a:solidFill>
          <a:ln w="4763">
            <a:solidFill>
              <a:srgbClr val="AF8E32"/>
            </a:solidFill>
            <a:prstDash val="solid"/>
          </a:ln>
          <a:effectLst>
            <a:outerShdw dist="15240" dir="2700000" algn="bl" rotWithShape="0">
              <a:srgbClr val="AF8E32">
                <a:alpha val="10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6119" y="3797275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3B40AC9-A359-34C6-D215-D62AA2A9A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208" y="4868745"/>
            <a:ext cx="2095792" cy="266737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EDB5E526-1AA3-24F3-A4C6-4315691DC03E}"/>
              </a:ext>
            </a:extLst>
          </p:cNvPr>
          <p:cNvSpPr/>
          <p:nvPr/>
        </p:nvSpPr>
        <p:spPr>
          <a:xfrm>
            <a:off x="5083523" y="998441"/>
            <a:ext cx="164648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End-to-End Validation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046BA135-C9A5-AC73-88A0-02BF23B30F79}"/>
              </a:ext>
            </a:extLst>
          </p:cNvPr>
          <p:cNvSpPr/>
          <p:nvPr/>
        </p:nvSpPr>
        <p:spPr>
          <a:xfrm>
            <a:off x="4993523" y="1299746"/>
            <a:ext cx="35953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MATLAB Simulink framework validated end-to-end on real traffic video.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5636D72A-B78E-3D84-8F91-6A1BA2614761}"/>
              </a:ext>
            </a:extLst>
          </p:cNvPr>
          <p:cNvSpPr/>
          <p:nvPr/>
        </p:nvSpPr>
        <p:spPr>
          <a:xfrm>
            <a:off x="846390" y="3025747"/>
            <a:ext cx="3595315" cy="110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Multi-object vehicle detection demonstrated with per-frame bounding boxes.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C7C577AE-31D7-C4F6-AD84-A9F2BCFAD02F}"/>
              </a:ext>
            </a:extLst>
          </p:cNvPr>
          <p:cNvSpPr/>
          <p:nvPr/>
        </p:nvSpPr>
        <p:spPr>
          <a:xfrm>
            <a:off x="5083523" y="2598460"/>
            <a:ext cx="18265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Noto Serif Medium" pitchFamily="34" charset="-122"/>
                <a:cs typeface="Times New Roman" panose="02020603050405020304" pitchFamily="18" charset="0"/>
              </a:rPr>
              <a:t>FPGA-Ready Foundation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39A5382F-2CAD-3CFA-098C-A9FC27087100}"/>
              </a:ext>
            </a:extLst>
          </p:cNvPr>
          <p:cNvSpPr/>
          <p:nvPr/>
        </p:nvSpPr>
        <p:spPr>
          <a:xfrm>
            <a:off x="4810490" y="2999405"/>
            <a:ext cx="35953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Noto Serif" pitchFamily="34" charset="-122"/>
                <a:cs typeface="Times New Roman" panose="02020603050405020304" pitchFamily="18" charset="0"/>
              </a:rPr>
              <a:t>Solid foundation established for FPGA deployment and adaptive tracking.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D4C0FC-C77E-BAC2-C10B-BA1A0741086B}"/>
              </a:ext>
            </a:extLst>
          </p:cNvPr>
          <p:cNvSpPr txBox="1"/>
          <p:nvPr/>
        </p:nvSpPr>
        <p:spPr>
          <a:xfrm>
            <a:off x="8739554" y="4887743"/>
            <a:ext cx="3655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148D585-DAF3-1115-0254-DEEC395B5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208" y="4868745"/>
            <a:ext cx="2095792" cy="2667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D53674-2BA5-4935-25CC-0980F101174B}"/>
              </a:ext>
            </a:extLst>
          </p:cNvPr>
          <p:cNvSpPr txBox="1"/>
          <p:nvPr/>
        </p:nvSpPr>
        <p:spPr>
          <a:xfrm>
            <a:off x="0" y="-1"/>
            <a:ext cx="9144000" cy="678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3600" b="1" dirty="0">
                <a:solidFill>
                  <a:sysClr val="windowText" lastClr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087E58-3F8B-C0FD-0F44-3A59A9BCF50B}"/>
              </a:ext>
            </a:extLst>
          </p:cNvPr>
          <p:cNvSpPr txBox="1"/>
          <p:nvPr/>
        </p:nvSpPr>
        <p:spPr>
          <a:xfrm>
            <a:off x="0" y="738553"/>
            <a:ext cx="903849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"Real-time object detection using Xilinx Zynq FPGA and tensor flow framework" by Amina El Mansouri, Hassan Ben Youssef, and Leila Saidi (2024).</a:t>
            </a:r>
          </a:p>
          <a:p>
            <a:pPr marL="228600" indent="-228600">
              <a:buFont typeface="+mj-lt"/>
              <a:buAutoNum type="arabicPeriod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"FPGA-Based Implementation of a Basic Background Subtraction Algorithm for Real-Time Application" by Marwan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Abdulkhaleq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Al-Yoonus and Saad Ahmed Al-Kazzaz (2024).</a:t>
            </a:r>
          </a:p>
          <a:p>
            <a:pPr marL="228600" indent="-228600">
              <a:buFont typeface="+mj-lt"/>
              <a:buAutoNum type="arabicPeriod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"FPGA-based improved background subtraction for ultra-low latency" by Yoshiyuki Oshima, Yoshiki Yamaguchi, Ryohei Tsugami,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Toshihito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Fujiwara, Tatsuya Fukui, and Satoshi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Narikawa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(2024).</a:t>
            </a:r>
          </a:p>
          <a:p>
            <a:pPr marL="228600" indent="-228600">
              <a:buFont typeface="+mj-lt"/>
              <a:buAutoNum type="arabicPeriod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"FPGA-based Real-Time Object Detection and Classification System using YOLO for Edge Computing" by Rashed Al Amin, Mehrab Hasan, Veit Wiese, and Roman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Obermaisser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(2024).</a:t>
            </a:r>
          </a:p>
          <a:p>
            <a:pPr marL="228600" indent="-228600">
              <a:buFont typeface="+mj-lt"/>
              <a:buAutoNum type="arabicPeriod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"Resource- and Power-Efficient High-Performance Object Detection Inference Acceleration Using FPGA" by Solomon Negussie Tesema and El-Bay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Bourennane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(2022).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F865E4-0622-9F41-2EFA-0B2235FA9472}"/>
              </a:ext>
            </a:extLst>
          </p:cNvPr>
          <p:cNvSpPr txBox="1"/>
          <p:nvPr/>
        </p:nvSpPr>
        <p:spPr>
          <a:xfrm>
            <a:off x="8792307" y="4887742"/>
            <a:ext cx="3516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216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1280</Words>
  <Application>Microsoft Office PowerPoint</Application>
  <PresentationFormat>On-screen Show (16:9)</PresentationFormat>
  <Paragraphs>215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Mayur Bhat</dc:creator>
  <cp:lastModifiedBy>Mayur Bhat</cp:lastModifiedBy>
  <cp:revision>15</cp:revision>
  <dcterms:created xsi:type="dcterms:W3CDTF">2026-05-26T12:12:16Z</dcterms:created>
  <dcterms:modified xsi:type="dcterms:W3CDTF">2026-07-13T06:01:15Z</dcterms:modified>
</cp:coreProperties>
</file>